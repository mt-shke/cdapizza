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déplacer la diapo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Cliquez pour modifier le format des notes</a:t>
            </a:r>
            <a:endParaRPr lang="fr-F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3717AD5-B388-44F1-BCE8-3A6262C439FD}" type="slidenum"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fr-F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EF85D3-8853-4BB6-89EF-BE35EE165D0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5993DB-E501-4E8A-B6D3-5DB3BA24DC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04F43B-1879-4BA5-9373-C0CCE48371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3E29802-5D52-4A0C-B092-0399973A8C9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B099AA-BACC-4327-965A-A97BB39064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9612EC-14BC-4D73-AFA4-5FF3CB3FB13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C07A1D-E144-4B12-9C96-4823CB9127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D337B3-200B-472B-887F-68E2011DD0D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&lt;numéro&gt;</a:t>
            </a:fld>
            <a:endParaRPr lang="fr-F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lang="fr-F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texte-titre</a:t>
            </a:r>
            <a:endParaRPr lang="fr-F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Cliquez pour éditer le format du plan de texte</a:t>
            </a:r>
            <a:endParaRPr lang="fr-F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niveau de plan</a:t>
            </a:r>
            <a:endParaRPr lang="fr-F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Troisième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Quatrième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Cinquième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Septième niveau de plan</a:t>
            </a:r>
            <a:endParaRPr lang="fr-F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1"/>
          <p:cNvSpPr/>
          <p:nvPr/>
        </p:nvSpPr>
        <p:spPr>
          <a:xfrm>
            <a:off x="5943600" y="731520"/>
            <a:ext cx="27428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🍕</a:t>
            </a:r>
            <a:endParaRPr lang="fr-FR" sz="1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2"/>
          <p:cNvSpPr/>
          <p:nvPr/>
        </p:nvSpPr>
        <p:spPr>
          <a:xfrm>
            <a:off x="548640" y="1097280"/>
            <a:ext cx="530316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CDAPizza</a:t>
            </a:r>
            <a:endParaRPr lang="fr-FR" sz="6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548640" y="2468880"/>
            <a:ext cx="530316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ed7aa"/>
                </a:solidFill>
                <a:effectLst/>
                <a:uFillTx/>
                <a:latin typeface="Calibri"/>
                <a:ea typeface="Calibri"/>
              </a:rPr>
              <a:t>Application de gestion des commandes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Shape 4"/>
          <p:cNvSpPr/>
          <p:nvPr/>
        </p:nvSpPr>
        <p:spPr>
          <a:xfrm>
            <a:off x="548640" y="3108960"/>
            <a:ext cx="2285640" cy="45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5"/>
          <p:cNvSpPr/>
          <p:nvPr/>
        </p:nvSpPr>
        <p:spPr>
          <a:xfrm>
            <a:off x="548640" y="329184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POC — Proof of Concept  |  Stack : Java Spring Boot + React</a:t>
            </a:r>
            <a:endParaRPr lang="fr-FR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Contexte &amp; Objectif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Shape 2"/>
          <p:cNvSpPr/>
          <p:nvPr/>
        </p:nvSpPr>
        <p:spPr>
          <a:xfrm>
            <a:off x="365760" y="1188720"/>
            <a:ext cx="3840120" cy="347436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3"/>
          <p:cNvSpPr/>
          <p:nvPr/>
        </p:nvSpPr>
        <p:spPr>
          <a:xfrm>
            <a:off x="548640" y="1325880"/>
            <a:ext cx="34743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Contexte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48640" y="1783080"/>
            <a:ext cx="347436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La pizzeria CDAPizza souhaite digitaliser la gestion de ses commandes.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Actuellement tout est géré manuellement entre le guichet et la cuisine.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Un système temps réel est nécessaire pour fluidifier le service.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5"/>
          <p:cNvSpPr/>
          <p:nvPr/>
        </p:nvSpPr>
        <p:spPr>
          <a:xfrm>
            <a:off x="4754880" y="1188720"/>
            <a:ext cx="4023000" cy="3474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4937760" y="1325880"/>
            <a:ext cx="3657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Objectif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4937760" y="1783080"/>
            <a:ext cx="365724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Développer un POC d'application interne permettant :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Saisie des commandes au guichet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Affichage temps réel en cuisine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Suivi de l'état des commandes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ffffff"/>
              </a:buClr>
              <a:buFont typeface="Symbol" charset="2"/>
              <a:buChar char=""/>
              <a:tabLst>
                <a:tab algn="l" pos="0"/>
              </a:tabLst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Gestion des pizzas au catalogue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Architecture Technique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2"/>
          <p:cNvSpPr/>
          <p:nvPr/>
        </p:nvSpPr>
        <p:spPr>
          <a:xfrm>
            <a:off x="274320" y="1188720"/>
            <a:ext cx="2742840" cy="365724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274320" y="1188720"/>
            <a:ext cx="2742840" cy="731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365760" y="118872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⚛️  Front-end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365760" y="201168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React + Tailwind CSS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457200" y="2560320"/>
            <a:ext cx="23770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SPA • React Router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JWT via cookie HttpOnly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Gestion des rôles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7"/>
          <p:cNvSpPr/>
          <p:nvPr/>
        </p:nvSpPr>
        <p:spPr>
          <a:xfrm>
            <a:off x="3063240" y="3017520"/>
            <a:ext cx="411480" cy="360"/>
          </a:xfrm>
          <a:prstGeom prst="line">
            <a:avLst/>
          </a:prstGeom>
          <a:ln w="254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Shape 8"/>
          <p:cNvSpPr/>
          <p:nvPr/>
        </p:nvSpPr>
        <p:spPr>
          <a:xfrm>
            <a:off x="3246120" y="1188720"/>
            <a:ext cx="2742840" cy="365724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9"/>
          <p:cNvSpPr/>
          <p:nvPr/>
        </p:nvSpPr>
        <p:spPr>
          <a:xfrm>
            <a:off x="3246120" y="1188720"/>
            <a:ext cx="2742840" cy="731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0"/>
          <p:cNvSpPr/>
          <p:nvPr/>
        </p:nvSpPr>
        <p:spPr>
          <a:xfrm>
            <a:off x="3337560" y="118872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☕  Back-end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1"/>
          <p:cNvSpPr/>
          <p:nvPr/>
        </p:nvSpPr>
        <p:spPr>
          <a:xfrm>
            <a:off x="3337560" y="201168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Java Spring Boot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12"/>
          <p:cNvSpPr/>
          <p:nvPr/>
        </p:nvSpPr>
        <p:spPr>
          <a:xfrm>
            <a:off x="3429000" y="2560320"/>
            <a:ext cx="23770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API REST • Spring Security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JWT • Validation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CORS configuré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Shape 13"/>
          <p:cNvSpPr/>
          <p:nvPr/>
        </p:nvSpPr>
        <p:spPr>
          <a:xfrm>
            <a:off x="6035040" y="3017520"/>
            <a:ext cx="411480" cy="360"/>
          </a:xfrm>
          <a:prstGeom prst="line">
            <a:avLst/>
          </a:prstGeom>
          <a:ln w="254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Shape 14"/>
          <p:cNvSpPr/>
          <p:nvPr/>
        </p:nvSpPr>
        <p:spPr>
          <a:xfrm>
            <a:off x="6217920" y="1188720"/>
            <a:ext cx="2742840" cy="365724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5"/>
          <p:cNvSpPr/>
          <p:nvPr/>
        </p:nvSpPr>
        <p:spPr>
          <a:xfrm>
            <a:off x="6217920" y="1188720"/>
            <a:ext cx="2742840" cy="7311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6"/>
          <p:cNvSpPr/>
          <p:nvPr/>
        </p:nvSpPr>
        <p:spPr>
          <a:xfrm>
            <a:off x="6309360" y="1188720"/>
            <a:ext cx="255996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🗄️  Base de données</a:t>
            </a:r>
            <a:endParaRPr lang="fr-FR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7"/>
          <p:cNvSpPr/>
          <p:nvPr/>
        </p:nvSpPr>
        <p:spPr>
          <a:xfrm>
            <a:off x="6309360" y="201168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MySQL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18"/>
          <p:cNvSpPr/>
          <p:nvPr/>
        </p:nvSpPr>
        <p:spPr>
          <a:xfrm>
            <a:off x="6400800" y="2560320"/>
            <a:ext cx="237708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4 tables 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Contraintes FK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Remises automatiques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Modélisation des Données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"/>
          <p:cNvSpPr/>
          <p:nvPr/>
        </p:nvSpPr>
        <p:spPr>
          <a:xfrm>
            <a:off x="274320" y="1188720"/>
            <a:ext cx="2102760" cy="233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Shape 3"/>
          <p:cNvSpPr/>
          <p:nvPr/>
        </p:nvSpPr>
        <p:spPr>
          <a:xfrm>
            <a:off x="274320" y="1188720"/>
            <a:ext cx="2102760" cy="41112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4"/>
          <p:cNvSpPr/>
          <p:nvPr/>
        </p:nvSpPr>
        <p:spPr>
          <a:xfrm>
            <a:off x="274320" y="11887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user_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5"/>
          <p:cNvSpPr/>
          <p:nvPr/>
        </p:nvSpPr>
        <p:spPr>
          <a:xfrm>
            <a:off x="274320" y="1600200"/>
            <a:ext cx="21027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6"/>
          <p:cNvSpPr/>
          <p:nvPr/>
        </p:nvSpPr>
        <p:spPr>
          <a:xfrm>
            <a:off x="320040" y="160020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🔑 id_user PK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Shape 7"/>
          <p:cNvSpPr/>
          <p:nvPr/>
        </p:nvSpPr>
        <p:spPr>
          <a:xfrm>
            <a:off x="274320" y="1984320"/>
            <a:ext cx="2102760" cy="38376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8"/>
          <p:cNvSpPr/>
          <p:nvPr/>
        </p:nvSpPr>
        <p:spPr>
          <a:xfrm>
            <a:off x="320040" y="19843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username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Shape 9"/>
          <p:cNvSpPr/>
          <p:nvPr/>
        </p:nvSpPr>
        <p:spPr>
          <a:xfrm>
            <a:off x="274320" y="2368440"/>
            <a:ext cx="21027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0"/>
          <p:cNvSpPr/>
          <p:nvPr/>
        </p:nvSpPr>
        <p:spPr>
          <a:xfrm>
            <a:off x="320040" y="23684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email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11"/>
          <p:cNvSpPr/>
          <p:nvPr/>
        </p:nvSpPr>
        <p:spPr>
          <a:xfrm>
            <a:off x="274320" y="2752200"/>
            <a:ext cx="2102760" cy="38376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2"/>
          <p:cNvSpPr/>
          <p:nvPr/>
        </p:nvSpPr>
        <p:spPr>
          <a:xfrm>
            <a:off x="320040" y="275220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password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3"/>
          <p:cNvSpPr/>
          <p:nvPr/>
        </p:nvSpPr>
        <p:spPr>
          <a:xfrm>
            <a:off x="274320" y="3136320"/>
            <a:ext cx="21027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14"/>
          <p:cNvSpPr/>
          <p:nvPr/>
        </p:nvSpPr>
        <p:spPr>
          <a:xfrm>
            <a:off x="320040" y="31363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role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Shape 15"/>
          <p:cNvSpPr/>
          <p:nvPr/>
        </p:nvSpPr>
        <p:spPr>
          <a:xfrm>
            <a:off x="2560320" y="1188720"/>
            <a:ext cx="2148480" cy="2331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Shape 16"/>
          <p:cNvSpPr/>
          <p:nvPr/>
        </p:nvSpPr>
        <p:spPr>
          <a:xfrm>
            <a:off x="2560320" y="1188720"/>
            <a:ext cx="2148480" cy="41112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17"/>
          <p:cNvSpPr/>
          <p:nvPr/>
        </p:nvSpPr>
        <p:spPr>
          <a:xfrm>
            <a:off x="2560320" y="1188720"/>
            <a:ext cx="21484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commande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8"/>
          <p:cNvSpPr/>
          <p:nvPr/>
        </p:nvSpPr>
        <p:spPr>
          <a:xfrm>
            <a:off x="2560320" y="1600200"/>
            <a:ext cx="21484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9"/>
          <p:cNvSpPr/>
          <p:nvPr/>
        </p:nvSpPr>
        <p:spPr>
          <a:xfrm>
            <a:off x="2606040" y="160020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🔑 id_commande PK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0"/>
          <p:cNvSpPr/>
          <p:nvPr/>
        </p:nvSpPr>
        <p:spPr>
          <a:xfrm>
            <a:off x="2560320" y="1984320"/>
            <a:ext cx="2148480" cy="38376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21"/>
          <p:cNvSpPr/>
          <p:nvPr/>
        </p:nvSpPr>
        <p:spPr>
          <a:xfrm>
            <a:off x="2606040" y="198432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date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Shape 22"/>
          <p:cNvSpPr/>
          <p:nvPr/>
        </p:nvSpPr>
        <p:spPr>
          <a:xfrm>
            <a:off x="2560320" y="2368440"/>
            <a:ext cx="21484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23"/>
          <p:cNvSpPr/>
          <p:nvPr/>
        </p:nvSpPr>
        <p:spPr>
          <a:xfrm>
            <a:off x="2606040" y="236844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montant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Shape 24"/>
          <p:cNvSpPr/>
          <p:nvPr/>
        </p:nvSpPr>
        <p:spPr>
          <a:xfrm>
            <a:off x="2560320" y="2752200"/>
            <a:ext cx="2148480" cy="38376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25"/>
          <p:cNvSpPr/>
          <p:nvPr/>
        </p:nvSpPr>
        <p:spPr>
          <a:xfrm>
            <a:off x="2606040" y="275220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etat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26"/>
          <p:cNvSpPr/>
          <p:nvPr/>
        </p:nvSpPr>
        <p:spPr>
          <a:xfrm>
            <a:off x="2560320" y="3136320"/>
            <a:ext cx="214848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7"/>
          <p:cNvSpPr/>
          <p:nvPr/>
        </p:nvSpPr>
        <p:spPr>
          <a:xfrm>
            <a:off x="2606040" y="3136320"/>
            <a:ext cx="20570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1d4ed8"/>
                </a:solidFill>
                <a:effectLst/>
                <a:uFillTx/>
                <a:latin typeface="Calibri"/>
                <a:ea typeface="Calibri"/>
              </a:rPr>
              <a:t>🔗 id_user FK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Shape 28"/>
          <p:cNvSpPr/>
          <p:nvPr/>
        </p:nvSpPr>
        <p:spPr>
          <a:xfrm>
            <a:off x="4846320" y="1188720"/>
            <a:ext cx="2102760" cy="156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Shape 29"/>
          <p:cNvSpPr/>
          <p:nvPr/>
        </p:nvSpPr>
        <p:spPr>
          <a:xfrm>
            <a:off x="4846320" y="1188720"/>
            <a:ext cx="2102760" cy="41112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30"/>
          <p:cNvSpPr/>
          <p:nvPr/>
        </p:nvSpPr>
        <p:spPr>
          <a:xfrm>
            <a:off x="4846320" y="11887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pizza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Shape 31"/>
          <p:cNvSpPr/>
          <p:nvPr/>
        </p:nvSpPr>
        <p:spPr>
          <a:xfrm>
            <a:off x="4846320" y="1600200"/>
            <a:ext cx="21027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32"/>
          <p:cNvSpPr/>
          <p:nvPr/>
        </p:nvSpPr>
        <p:spPr>
          <a:xfrm>
            <a:off x="4892040" y="160020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🔑 id_pizza PK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33"/>
          <p:cNvSpPr/>
          <p:nvPr/>
        </p:nvSpPr>
        <p:spPr>
          <a:xfrm>
            <a:off x="4846320" y="1984320"/>
            <a:ext cx="2102760" cy="38376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4"/>
          <p:cNvSpPr/>
          <p:nvPr/>
        </p:nvSpPr>
        <p:spPr>
          <a:xfrm>
            <a:off x="4892040" y="19843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nom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Shape 35"/>
          <p:cNvSpPr/>
          <p:nvPr/>
        </p:nvSpPr>
        <p:spPr>
          <a:xfrm>
            <a:off x="4846320" y="2368440"/>
            <a:ext cx="21027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36"/>
          <p:cNvSpPr/>
          <p:nvPr/>
        </p:nvSpPr>
        <p:spPr>
          <a:xfrm>
            <a:off x="4892040" y="23684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prix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37"/>
          <p:cNvSpPr/>
          <p:nvPr/>
        </p:nvSpPr>
        <p:spPr>
          <a:xfrm>
            <a:off x="6766560" y="1188720"/>
            <a:ext cx="2102760" cy="156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38"/>
          <p:cNvSpPr/>
          <p:nvPr/>
        </p:nvSpPr>
        <p:spPr>
          <a:xfrm>
            <a:off x="6766560" y="1188720"/>
            <a:ext cx="2102760" cy="41112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39"/>
          <p:cNvSpPr/>
          <p:nvPr/>
        </p:nvSpPr>
        <p:spPr>
          <a:xfrm>
            <a:off x="6766560" y="1188720"/>
            <a:ext cx="21027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contenir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40"/>
          <p:cNvSpPr/>
          <p:nvPr/>
        </p:nvSpPr>
        <p:spPr>
          <a:xfrm>
            <a:off x="6766560" y="1600200"/>
            <a:ext cx="21027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41"/>
          <p:cNvSpPr/>
          <p:nvPr/>
        </p:nvSpPr>
        <p:spPr>
          <a:xfrm>
            <a:off x="6812280" y="160020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🔑 id_commande PK,FK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42"/>
          <p:cNvSpPr/>
          <p:nvPr/>
        </p:nvSpPr>
        <p:spPr>
          <a:xfrm>
            <a:off x="6766560" y="1984320"/>
            <a:ext cx="2102760" cy="38376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43"/>
          <p:cNvSpPr/>
          <p:nvPr/>
        </p:nvSpPr>
        <p:spPr>
          <a:xfrm>
            <a:off x="6812280" y="198432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1" u="none" strike="noStrike">
                <a:solidFill>
                  <a:srgbClr val="c2410c"/>
                </a:solidFill>
                <a:effectLst/>
                <a:uFillTx/>
                <a:latin typeface="Calibri"/>
                <a:ea typeface="Calibri"/>
              </a:rPr>
              <a:t>🔑 id_pizza PK,FK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44"/>
          <p:cNvSpPr/>
          <p:nvPr/>
        </p:nvSpPr>
        <p:spPr>
          <a:xfrm>
            <a:off x="6766560" y="2368440"/>
            <a:ext cx="2102760" cy="383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45"/>
          <p:cNvSpPr/>
          <p:nvPr/>
        </p:nvSpPr>
        <p:spPr>
          <a:xfrm>
            <a:off x="6812280" y="2368440"/>
            <a:ext cx="201132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   quantite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46"/>
          <p:cNvSpPr/>
          <p:nvPr/>
        </p:nvSpPr>
        <p:spPr>
          <a:xfrm>
            <a:off x="2395440" y="2103120"/>
            <a:ext cx="164880" cy="360"/>
          </a:xfrm>
          <a:prstGeom prst="line">
            <a:avLst/>
          </a:prstGeom>
          <a:ln w="1905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47"/>
          <p:cNvSpPr/>
          <p:nvPr/>
        </p:nvSpPr>
        <p:spPr>
          <a:xfrm>
            <a:off x="4727160" y="2286000"/>
            <a:ext cx="119160" cy="360"/>
          </a:xfrm>
          <a:prstGeom prst="line">
            <a:avLst/>
          </a:prstGeom>
          <a:ln w="1905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48"/>
          <p:cNvSpPr/>
          <p:nvPr/>
        </p:nvSpPr>
        <p:spPr>
          <a:xfrm>
            <a:off x="6693120" y="2286000"/>
            <a:ext cx="73440" cy="360"/>
          </a:xfrm>
          <a:prstGeom prst="line">
            <a:avLst/>
          </a:prstGeom>
          <a:ln w="1905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49"/>
          <p:cNvSpPr/>
          <p:nvPr/>
        </p:nvSpPr>
        <p:spPr>
          <a:xfrm>
            <a:off x="274320" y="4663440"/>
            <a:ext cx="859500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" b="0" i="1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Relations : user_ → commande (1,N)  •  commande → contenir (1,N)  •  pizza → contenir (1,N)</a:t>
            </a:r>
            <a:endParaRPr lang="fr-FR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5f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Fonctionnalités par Rôle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Shape 2"/>
          <p:cNvSpPr/>
          <p:nvPr/>
        </p:nvSpPr>
        <p:spPr>
          <a:xfrm>
            <a:off x="274320" y="1188720"/>
            <a:ext cx="274284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Shape 3"/>
          <p:cNvSpPr/>
          <p:nvPr/>
        </p:nvSpPr>
        <p:spPr>
          <a:xfrm>
            <a:off x="274320" y="1188720"/>
            <a:ext cx="2742840" cy="5940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4"/>
          <p:cNvSpPr/>
          <p:nvPr/>
        </p:nvSpPr>
        <p:spPr>
          <a:xfrm>
            <a:off x="365760" y="118872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👤 Client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5"/>
          <p:cNvSpPr/>
          <p:nvPr/>
        </p:nvSpPr>
        <p:spPr>
          <a:xfrm>
            <a:off x="457200" y="1874520"/>
            <a:ext cx="2468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Inscription &amp; connexion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Passer une commande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Choisir pizzas + quantités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Remises automatiques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Suivi de ses commandes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6"/>
          <p:cNvSpPr/>
          <p:nvPr/>
        </p:nvSpPr>
        <p:spPr>
          <a:xfrm>
            <a:off x="3246120" y="1188720"/>
            <a:ext cx="274284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Shape 7"/>
          <p:cNvSpPr/>
          <p:nvPr/>
        </p:nvSpPr>
        <p:spPr>
          <a:xfrm>
            <a:off x="3246120" y="1188720"/>
            <a:ext cx="2742840" cy="5940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8"/>
          <p:cNvSpPr/>
          <p:nvPr/>
        </p:nvSpPr>
        <p:spPr>
          <a:xfrm>
            <a:off x="3337560" y="118872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🏪 Caisse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Text 9"/>
          <p:cNvSpPr/>
          <p:nvPr/>
        </p:nvSpPr>
        <p:spPr>
          <a:xfrm>
            <a:off x="3429000" y="1874520"/>
            <a:ext cx="2468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Voir toutes les commandes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Modifier l'état (PAYER→LIVRER)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Affichage nom du client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Badges de remise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Rafraîchissement auto (5s)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0"/>
          <p:cNvSpPr/>
          <p:nvPr/>
        </p:nvSpPr>
        <p:spPr>
          <a:xfrm>
            <a:off x="6217920" y="1188720"/>
            <a:ext cx="2742840" cy="374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Shape 11"/>
          <p:cNvSpPr/>
          <p:nvPr/>
        </p:nvSpPr>
        <p:spPr>
          <a:xfrm>
            <a:off x="6217920" y="1188720"/>
            <a:ext cx="2742840" cy="5940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12"/>
          <p:cNvSpPr/>
          <p:nvPr/>
        </p:nvSpPr>
        <p:spPr>
          <a:xfrm>
            <a:off x="6309360" y="1188720"/>
            <a:ext cx="25599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👨‍🍳 Cuisine</a:t>
            </a:r>
            <a:endParaRPr lang="fr-F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13"/>
          <p:cNvSpPr/>
          <p:nvPr/>
        </p:nvSpPr>
        <p:spPr>
          <a:xfrm>
            <a:off x="6400800" y="1874520"/>
            <a:ext cx="2468520" cy="2925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Voir toutes les commandes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Modifier l'état (PREP→PRÊTE)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Ajouter des pizzas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Modifier des pizzas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1c1917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Supprimer des pizzas</a:t>
            </a:r>
            <a:endParaRPr lang="fr-FR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8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Sécurité de l'Application</a:t>
            </a:r>
            <a:endParaRPr lang="fr-FR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Shape 2"/>
          <p:cNvSpPr/>
          <p:nvPr/>
        </p:nvSpPr>
        <p:spPr>
          <a:xfrm>
            <a:off x="274320" y="1188720"/>
            <a:ext cx="2742840" cy="155412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3"/>
          <p:cNvSpPr/>
          <p:nvPr/>
        </p:nvSpPr>
        <p:spPr>
          <a:xfrm>
            <a:off x="274320" y="1188720"/>
            <a:ext cx="72720" cy="1554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4"/>
          <p:cNvSpPr/>
          <p:nvPr/>
        </p:nvSpPr>
        <p:spPr>
          <a:xfrm>
            <a:off x="457200" y="12801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🔐  JWT — Cookie HttpOnly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5"/>
          <p:cNvSpPr/>
          <p:nvPr/>
        </p:nvSpPr>
        <p:spPr>
          <a:xfrm>
            <a:off x="457200" y="17830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Token inaccessible depuis JS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Protection XSS renforcée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6"/>
          <p:cNvSpPr/>
          <p:nvPr/>
        </p:nvSpPr>
        <p:spPr>
          <a:xfrm>
            <a:off x="3200400" y="1188720"/>
            <a:ext cx="2742840" cy="155412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7"/>
          <p:cNvSpPr/>
          <p:nvPr/>
        </p:nvSpPr>
        <p:spPr>
          <a:xfrm>
            <a:off x="3200400" y="1188720"/>
            <a:ext cx="72720" cy="1554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8"/>
          <p:cNvSpPr/>
          <p:nvPr/>
        </p:nvSpPr>
        <p:spPr>
          <a:xfrm>
            <a:off x="3383280" y="12801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🔒  BCrypt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9"/>
          <p:cNvSpPr/>
          <p:nvPr/>
        </p:nvSpPr>
        <p:spPr>
          <a:xfrm>
            <a:off x="3383280" y="17830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Mots de passe hashés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Jamais stockés en clair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Shape 10"/>
          <p:cNvSpPr/>
          <p:nvPr/>
        </p:nvSpPr>
        <p:spPr>
          <a:xfrm>
            <a:off x="6126480" y="1188720"/>
            <a:ext cx="2742840" cy="155412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11"/>
          <p:cNvSpPr/>
          <p:nvPr/>
        </p:nvSpPr>
        <p:spPr>
          <a:xfrm>
            <a:off x="6126480" y="1188720"/>
            <a:ext cx="72720" cy="1554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12"/>
          <p:cNvSpPr/>
          <p:nvPr/>
        </p:nvSpPr>
        <p:spPr>
          <a:xfrm>
            <a:off x="6309360" y="12801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👮  Rôles &amp; Autorisations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3"/>
          <p:cNvSpPr/>
          <p:nvPr/>
        </p:nvSpPr>
        <p:spPr>
          <a:xfrm>
            <a:off x="6309360" y="17830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PrivateRoute + RoleRoute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Vérification back-end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Shape 14"/>
          <p:cNvSpPr/>
          <p:nvPr/>
        </p:nvSpPr>
        <p:spPr>
          <a:xfrm>
            <a:off x="274320" y="3017520"/>
            <a:ext cx="2742840" cy="155412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Shape 15"/>
          <p:cNvSpPr/>
          <p:nvPr/>
        </p:nvSpPr>
        <p:spPr>
          <a:xfrm>
            <a:off x="274320" y="3017520"/>
            <a:ext cx="72720" cy="1554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16"/>
          <p:cNvSpPr/>
          <p:nvPr/>
        </p:nvSpPr>
        <p:spPr>
          <a:xfrm>
            <a:off x="457200" y="3108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✅  Validation des données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17"/>
          <p:cNvSpPr/>
          <p:nvPr/>
        </p:nvSpPr>
        <p:spPr>
          <a:xfrm>
            <a:off x="457200" y="36118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@Valid + @Size + @Email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Messages d'erreur clairs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18"/>
          <p:cNvSpPr/>
          <p:nvPr/>
        </p:nvSpPr>
        <p:spPr>
          <a:xfrm>
            <a:off x="3200400" y="3017520"/>
            <a:ext cx="2742840" cy="155412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19"/>
          <p:cNvSpPr/>
          <p:nvPr/>
        </p:nvSpPr>
        <p:spPr>
          <a:xfrm>
            <a:off x="3200400" y="3017520"/>
            <a:ext cx="72720" cy="1554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20"/>
          <p:cNvSpPr/>
          <p:nvPr/>
        </p:nvSpPr>
        <p:spPr>
          <a:xfrm>
            <a:off x="3383280" y="3108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🌐  CORS configuré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21"/>
          <p:cNvSpPr/>
          <p:nvPr/>
        </p:nvSpPr>
        <p:spPr>
          <a:xfrm>
            <a:off x="3383280" y="36118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Origines whitelistées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credentials: include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22"/>
          <p:cNvSpPr/>
          <p:nvPr/>
        </p:nvSpPr>
        <p:spPr>
          <a:xfrm>
            <a:off x="6126480" y="3017520"/>
            <a:ext cx="2742840" cy="1554120"/>
          </a:xfrm>
          <a:prstGeom prst="rect">
            <a:avLst/>
          </a:prstGeom>
          <a:solidFill>
            <a:srgbClr val="f5f5f4"/>
          </a:solidFill>
          <a:ln w="12700">
            <a:solidFill>
              <a:srgbClr val="e7e5e4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23"/>
          <p:cNvSpPr/>
          <p:nvPr/>
        </p:nvSpPr>
        <p:spPr>
          <a:xfrm>
            <a:off x="6126480" y="3017520"/>
            <a:ext cx="72720" cy="15541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4"/>
          <p:cNvSpPr/>
          <p:nvPr/>
        </p:nvSpPr>
        <p:spPr>
          <a:xfrm>
            <a:off x="6309360" y="3108960"/>
            <a:ext cx="246852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1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🛡️  Spring Security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5"/>
          <p:cNvSpPr/>
          <p:nvPr/>
        </p:nvSpPr>
        <p:spPr>
          <a:xfrm>
            <a:off x="6309360" y="3611880"/>
            <a:ext cx="246852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Stateless / CSRF désactivé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100" b="0" u="none" strike="noStrike">
                <a:solidFill>
                  <a:srgbClr val="78716c"/>
                </a:solidFill>
                <a:effectLst/>
                <a:uFillTx/>
                <a:latin typeface="Calibri"/>
                <a:ea typeface="Calibri"/>
              </a:rPr>
              <a:t>CSP headers configurés</a:t>
            </a:r>
            <a:endParaRPr lang="fr-FR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0"/>
          <p:cNvSpPr/>
          <p:nvPr/>
        </p:nvSpPr>
        <p:spPr>
          <a:xfrm>
            <a:off x="0" y="0"/>
            <a:ext cx="9143640" cy="1005480"/>
          </a:xfrm>
          <a:prstGeom prst="rect">
            <a:avLst/>
          </a:prstGeom>
          <a:solidFill>
            <a:srgbClr val="1c1917"/>
          </a:solidFill>
          <a:ln w="12700">
            <a:solidFill>
              <a:srgbClr val="1c191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"/>
          <p:cNvSpPr/>
          <p:nvPr/>
        </p:nvSpPr>
        <p:spPr>
          <a:xfrm>
            <a:off x="457200" y="0"/>
            <a:ext cx="822924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24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Règles Métier — Remises Automatiques</a:t>
            </a:r>
            <a:endParaRPr lang="fr-F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Shape 2"/>
          <p:cNvSpPr/>
          <p:nvPr/>
        </p:nvSpPr>
        <p:spPr>
          <a:xfrm>
            <a:off x="365760" y="1188720"/>
            <a:ext cx="3931560" cy="3565800"/>
          </a:xfrm>
          <a:prstGeom prst="rect">
            <a:avLst/>
          </a:prstGeom>
          <a:solidFill>
            <a:srgbClr val="f5f3ff"/>
          </a:solidFill>
          <a:ln w="12700">
            <a:solidFill>
              <a:srgbClr val="c4b5f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3"/>
          <p:cNvSpPr/>
          <p:nvPr/>
        </p:nvSpPr>
        <p:spPr>
          <a:xfrm>
            <a:off x="548640" y="13258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6d28d9"/>
                </a:solidFill>
                <a:effectLst/>
                <a:uFillTx/>
                <a:latin typeface="Calibri"/>
                <a:ea typeface="Calibri"/>
              </a:rPr>
              <a:t>💜  Remise Fidélité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4"/>
          <p:cNvSpPr/>
          <p:nvPr/>
        </p:nvSpPr>
        <p:spPr>
          <a:xfrm>
            <a:off x="548640" y="192024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7c3aed"/>
                </a:solidFill>
                <a:effectLst/>
                <a:uFillTx/>
                <a:latin typeface="Georgia"/>
                <a:ea typeface="Georgia"/>
              </a:rPr>
              <a:t>− 10 %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5"/>
          <p:cNvSpPr/>
          <p:nvPr/>
        </p:nvSpPr>
        <p:spPr>
          <a:xfrm>
            <a:off x="548640" y="283464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Toutes les 3 commandes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pour un même client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Calculé côté back-end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à la création de la commande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6"/>
          <p:cNvSpPr/>
          <p:nvPr/>
        </p:nvSpPr>
        <p:spPr>
          <a:xfrm>
            <a:off x="4846320" y="1188720"/>
            <a:ext cx="3931560" cy="3565800"/>
          </a:xfrm>
          <a:prstGeom prst="rect">
            <a:avLst/>
          </a:prstGeom>
          <a:solidFill>
            <a:srgbClr val="eff6ff"/>
          </a:solidFill>
          <a:ln w="12700">
            <a:solidFill>
              <a:srgbClr val="93c5fd"/>
            </a:solidFill>
            <a:round/>
          </a:ln>
          <a:effectLst>
            <a:outerShdw algn="bl" blurRad="101520" dir="8100000" dist="37674" kx="0" ky="0" rotWithShape="0" sx="100000" sy="100000">
              <a:srgbClr val="000000">
                <a:alpha val="10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7"/>
          <p:cNvSpPr/>
          <p:nvPr/>
        </p:nvSpPr>
        <p:spPr>
          <a:xfrm>
            <a:off x="5029200" y="1325880"/>
            <a:ext cx="3657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600" b="1" u="none" strike="noStrike">
                <a:solidFill>
                  <a:srgbClr val="1d4ed8"/>
                </a:solidFill>
                <a:effectLst/>
                <a:uFillTx/>
                <a:latin typeface="Calibri"/>
                <a:ea typeface="Calibri"/>
              </a:rPr>
              <a:t>🔵  Remise Volume</a:t>
            </a:r>
            <a:endParaRPr lang="fr-F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8"/>
          <p:cNvSpPr/>
          <p:nvPr/>
        </p:nvSpPr>
        <p:spPr>
          <a:xfrm>
            <a:off x="5029200" y="1920240"/>
            <a:ext cx="36572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4800" b="1" u="none" strike="noStrike">
                <a:solidFill>
                  <a:srgbClr val="2563eb"/>
                </a:solidFill>
                <a:effectLst/>
                <a:uFillTx/>
                <a:latin typeface="Georgia"/>
                <a:ea typeface="Georgia"/>
              </a:rPr>
              <a:t>− 5 %</a:t>
            </a:r>
            <a:endParaRPr lang="fr-FR" sz="4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9"/>
          <p:cNvSpPr/>
          <p:nvPr/>
        </p:nvSpPr>
        <p:spPr>
          <a:xfrm>
            <a:off x="5029200" y="2834640"/>
            <a:ext cx="365724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Dès 5 pizzas commandées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dans la même commande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Remises cumulables :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300" b="0" u="none" strike="noStrike">
                <a:solidFill>
                  <a:srgbClr val="1c1917"/>
                </a:solidFill>
                <a:effectLst/>
                <a:uFillTx/>
                <a:latin typeface="Calibri"/>
                <a:ea typeface="Calibri"/>
              </a:rPr>
              <a:t>jusqu'à − 15 % au total</a:t>
            </a:r>
            <a:endParaRPr lang="fr-FR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9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0"/>
          <p:cNvSpPr/>
          <p:nvPr/>
        </p:nvSpPr>
        <p:spPr>
          <a:xfrm>
            <a:off x="0" y="0"/>
            <a:ext cx="228240" cy="51433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"/>
          <p:cNvSpPr/>
          <p:nvPr/>
        </p:nvSpPr>
        <p:spPr>
          <a:xfrm>
            <a:off x="6400800" y="457200"/>
            <a:ext cx="2285640" cy="228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0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🍕</a:t>
            </a:r>
            <a:endParaRPr lang="fr-FR" sz="10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"/>
          <p:cNvSpPr/>
          <p:nvPr/>
        </p:nvSpPr>
        <p:spPr>
          <a:xfrm>
            <a:off x="548640" y="914400"/>
            <a:ext cx="54860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5600" b="1" u="none" strike="noStrike">
                <a:solidFill>
                  <a:srgbClr val="ffffff"/>
                </a:solidFill>
                <a:effectLst/>
                <a:uFillTx/>
                <a:latin typeface="Georgia"/>
                <a:ea typeface="Georgia"/>
              </a:rPr>
              <a:t>Merci !</a:t>
            </a:r>
            <a:endParaRPr lang="fr-FR" sz="5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3"/>
          <p:cNvSpPr/>
          <p:nvPr/>
        </p:nvSpPr>
        <p:spPr>
          <a:xfrm>
            <a:off x="548640" y="2103120"/>
            <a:ext cx="54860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lang="en-US" sz="1800" b="0" u="none" strike="noStrike">
                <a:solidFill>
                  <a:srgbClr val="fed7aa"/>
                </a:solidFill>
                <a:effectLst/>
                <a:uFillTx/>
                <a:latin typeface="Calibri"/>
                <a:ea typeface="Calibri"/>
              </a:rPr>
              <a:t>CDAPizza — POC fonctionnel</a:t>
            </a:r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4"/>
          <p:cNvSpPr/>
          <p:nvPr/>
        </p:nvSpPr>
        <p:spPr>
          <a:xfrm>
            <a:off x="548640" y="2743200"/>
            <a:ext cx="5486040" cy="45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lang="fr-FR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5"/>
          <p:cNvSpPr/>
          <p:nvPr/>
        </p:nvSpPr>
        <p:spPr>
          <a:xfrm>
            <a:off x="548640" y="2880360"/>
            <a:ext cx="822924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marL="343080" indent="-343080" defTabSz="914400">
              <a:lnSpc>
                <a:spcPct val="100000"/>
              </a:lnSpc>
              <a:buClr>
                <a:srgbClr val="e7e5e4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7e5e4"/>
                </a:solidFill>
                <a:effectLst/>
                <a:uFillTx/>
                <a:latin typeface="Calibri"/>
                <a:ea typeface="Calibri"/>
              </a:rPr>
              <a:t>Stack moderne : Java Spring Boot + React + MySQL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7e5e4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7e5e4"/>
                </a:solidFill>
                <a:effectLst/>
                <a:uFillTx/>
                <a:latin typeface="Calibri"/>
                <a:ea typeface="Calibri"/>
              </a:rPr>
              <a:t>Sécurité : Cookie HttpOnly, BCrypt, Spring Security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7e5e4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7e5e4"/>
                </a:solidFill>
                <a:effectLst/>
                <a:uFillTx/>
                <a:latin typeface="Calibri"/>
                <a:ea typeface="Calibri"/>
              </a:rPr>
              <a:t>Règles métier : remises automatiques (fidélité + volume)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7e5e4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7e5e4"/>
                </a:solidFill>
                <a:effectLst/>
                <a:uFillTx/>
                <a:latin typeface="Calibri"/>
                <a:ea typeface="Calibri"/>
              </a:rPr>
              <a:t>Architecture : API REST + SPA avec gestion des rôles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914400">
              <a:lnSpc>
                <a:spcPct val="100000"/>
              </a:lnSpc>
              <a:buClr>
                <a:srgbClr val="e7e5e4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e7e5e4"/>
                </a:solidFill>
                <a:effectLst/>
                <a:uFillTx/>
                <a:latin typeface="Calibri"/>
                <a:ea typeface="Calibri"/>
              </a:rPr>
              <a:t>Tests unitaires : JUnit 5 + Mockito</a:t>
            </a:r>
            <a:endParaRPr lang="fr-FR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52</TotalTime>
  <Application>LibreOffice/25.8.5.2$Windows_X86_64 LibreOffice_project/9c8b85f387cc00a89945a79c9e6239f32e450ac2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2026-04-07T11:15:13Z</dcterms:created>
  <dc:creator>PptxGenJS</dc:creator>
  <dc:description/>
  <dc:language>fr-FR</dc:language>
  <cp:lastModifiedBy/>
  <dcterms:modified xsi:type="dcterms:W3CDTF">2026-04-09T09:51:53Z</dcterms:modified>
  <cp:revision>2</cp:revision>
  <dc:subject>PptxGenJS Presentation</dc:subject>
  <dc:title>CDAPizza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On-screen Show (16:9)</vt:lpwstr>
  </property>
  <property fmtid="{D5CDD505-2E9C-101B-9397-08002B2CF9AE}" pid="4" name="Slides">
    <vt:i4>8</vt:i4>
  </property>
</Properties>
</file>